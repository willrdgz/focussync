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2ff2cec14e4bd3" /><Relationship Type="http://schemas.openxmlformats.org/officeDocument/2006/relationships/extended-properties" Target="/docProps/app.xml" Id="Re18a1948e5074196" /><Relationship Type="http://schemas.openxmlformats.org/officeDocument/2006/relationships/officeDocument" Target="/ppt/presentation.xml" Id="Rc83f806dc2ab461a" /></Relationships>
</file>

<file path=ppt/presentation.xml><?xml version="1.0" encoding="utf-8"?>
<p:presentation xmlns:p="http://schemas.openxmlformats.org/presentationml/2006/main">
  <p:sldMasterIdLst>
    <p:sldMasterId xmlns:r="http://schemas.openxmlformats.org/officeDocument/2006/relationships" id="2147483648" r:id="R73be57e31d9d4a04"/>
  </p:sldMasterIdLst>
  <p:notesMasterIdLst>
    <p:notesMasterId xmlns:r="http://schemas.openxmlformats.org/officeDocument/2006/relationships" r:id="R08a29844deb04f0f"/>
  </p:notesMasterIdLst>
  <p:sldIdLst>
    <p:sldId xmlns:r="http://schemas.openxmlformats.org/officeDocument/2006/relationships" id="256" r:id="R62814afeada04945"/>
    <p:sldId xmlns:r="http://schemas.openxmlformats.org/officeDocument/2006/relationships" id="257" r:id="R868f9910e29c4d6d"/>
    <p:sldId xmlns:r="http://schemas.openxmlformats.org/officeDocument/2006/relationships" id="258" r:id="Rfd399dffb53a43db"/>
    <p:sldId xmlns:r="http://schemas.openxmlformats.org/officeDocument/2006/relationships" id="259" r:id="Rb274c9c5c3914576"/>
    <p:sldId xmlns:r="http://schemas.openxmlformats.org/officeDocument/2006/relationships" id="260" r:id="R1b42f35167254c7c"/>
    <p:sldId xmlns:r="http://schemas.openxmlformats.org/officeDocument/2006/relationships" id="261" r:id="R023cdcd5b0254133"/>
    <p:sldId xmlns:r="http://schemas.openxmlformats.org/officeDocument/2006/relationships" id="262" r:id="R9dea11a691244d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842eefc93e423d" /><Relationship Type="http://schemas.openxmlformats.org/officeDocument/2006/relationships/slideMaster" Target="/ppt/slideMasters/slideMaster1.xml" Id="R73be57e31d9d4a04" /><Relationship Type="http://schemas.openxmlformats.org/officeDocument/2006/relationships/notesMaster" Target="/ppt/notesMasters/notesMaster1.xml" Id="R08a29844deb04f0f" /><Relationship Type="http://schemas.openxmlformats.org/officeDocument/2006/relationships/presProps" Target="/ppt/presProps.xml" Id="R2968cc346a054c49" /><Relationship Type="http://schemas.openxmlformats.org/officeDocument/2006/relationships/tableStyles" Target="/ppt/tableStyles.xml" Id="R0c85292c66dd4724" /><Relationship Type="http://schemas.openxmlformats.org/officeDocument/2006/relationships/slide" Target="/ppt/slides/slide1.xml" Id="R62814afeada04945" /><Relationship Type="http://schemas.openxmlformats.org/officeDocument/2006/relationships/slide" Target="/ppt/slides/slide2.xml" Id="R868f9910e29c4d6d" /><Relationship Type="http://schemas.openxmlformats.org/officeDocument/2006/relationships/slide" Target="/ppt/slides/slide3.xml" Id="Rfd399dffb53a43db" /><Relationship Type="http://schemas.openxmlformats.org/officeDocument/2006/relationships/slide" Target="/ppt/slides/slide4.xml" Id="Rb274c9c5c3914576" /><Relationship Type="http://schemas.openxmlformats.org/officeDocument/2006/relationships/slide" Target="/ppt/slides/slide5.xml" Id="R1b42f35167254c7c" /><Relationship Type="http://schemas.openxmlformats.org/officeDocument/2006/relationships/slide" Target="/ppt/slides/slide6.xml" Id="R023cdcd5b0254133" /><Relationship Type="http://schemas.openxmlformats.org/officeDocument/2006/relationships/slide" Target="/ppt/slides/slide7.xml" Id="R9dea11a691244d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4d70835a1e4b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9be39adcdb4155" /><Relationship Type="http://schemas.openxmlformats.org/officeDocument/2006/relationships/notesMaster" Target="/ppt/notesMasters/notesMaster1.xml" Id="Ra90ca4b79bd145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d4c6614fce4077" /><Relationship Type="http://schemas.openxmlformats.org/officeDocument/2006/relationships/notesMaster" Target="/ppt/notesMasters/notesMaster1.xml" Id="R0d29d954dd1445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6455ce9f6349dc" /><Relationship Type="http://schemas.openxmlformats.org/officeDocument/2006/relationships/notesMaster" Target="/ppt/notesMasters/notesMaster1.xml" Id="R2cb8903717674c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a9680b42d840b4" /><Relationship Type="http://schemas.openxmlformats.org/officeDocument/2006/relationships/notesMaster" Target="/ppt/notesMasters/notesMaster1.xml" Id="Rdeab89806d6a44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ce99e67b7d4d32" /><Relationship Type="http://schemas.openxmlformats.org/officeDocument/2006/relationships/notesMaster" Target="/ppt/notesMasters/notesMaster1.xml" Id="Rbdbd937bc69746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7b4220234e4951" /><Relationship Type="http://schemas.openxmlformats.org/officeDocument/2006/relationships/notesMaster" Target="/ppt/notesMasters/notesMaster1.xml" Id="R72c7195174644c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8165ad153f4af6" /><Relationship Type="http://schemas.openxmlformats.org/officeDocument/2006/relationships/notesMaster" Target="/ppt/notesMasters/notesMaster1.xml" Id="Rf503b1dc933443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0:00–0:35</a:t>
            </a:r>
          </a:p>
          <a:p xmlns:a="http://schemas.openxmlformats.org/drawingml/2006/main">
            <a:r>
              <a:t/>
            </a:r>
          </a:p>
          <a:p xmlns:a="http://schemas.openxmlformats.org/drawingml/2006/main">
            <a:r>
              <a:t>Pensemos en una situación cotidiana: tenemos un examen, nos sentamos a estudiar y dejamos el teléfono a un lado. Poco después lo levantamos, perdemos el hilo y volvemos a empezar. Al terminar, sabemos cuánto tiempo pasó, pero no cuánto aprovechamos. FocusSync parte de ese problema: organizar el estudio y reconocer las interrupciones. Está dirigido a estudiantes que necesitan una rutina más clara y una forma de revisar su actividad.</a:t>
            </a:r>
          </a:p>
          <a:p xmlns:a="http://schemas.openxmlformats.org/drawingml/2006/main">
            <a:r>
              <a:t/>
            </a:r>
          </a:p>
          <a:p xmlns:a="http://schemas.openxmlformats.org/drawingml/2006/main">
            <a:r>
              <a:t>Fuentes: Plantilla para crear presentaicon de proyectos.pdf, apartados 1 a 7. Repositorio FocusSync/README.md, FocusSync/features/focus/screens/FocusScreen.tsx, FocusSync/supabase/migrations/202608260001_initial_schema.sql. Funcionalidades descritas a partir del código, sin verificación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0:35–1:15</a:t>
            </a:r>
          </a:p>
          <a:p xmlns:a="http://schemas.openxmlformats.org/drawingml/2006/main">
            <a:r>
              <a:t/>
            </a:r>
          </a:p>
          <a:p xmlns:a="http://schemas.openxmlformats.org/drawingml/2006/main">
            <a:r>
              <a:t>El valor de FocusSync consiste en conectar la planificación con lo que realmente ocurre durante una sesión. El estudiante puede pedir ayuda para organizar un tema, elegir un bloque y comenzar a trabajar. Después puede consultar su historial. Así, la propuesta reúne acciones que suelen quedar separadas: decidir qué estudiar y revisar cómo se estudió. No afirmamos que la aplicación garantice mejores calificaciones. Buscamos ofrecer una herramienta para tomar decisiones sobre la propia rutina a partir de la actividad registrada.</a:t>
            </a:r>
          </a:p>
          <a:p xmlns:a="http://schemas.openxmlformats.org/drawingml/2006/main">
            <a:r>
              <a:t/>
            </a:r>
          </a:p>
          <a:p xmlns:a="http://schemas.openxmlformats.org/drawingml/2006/main">
            <a:r>
              <a:t>Fuentes: Plantilla para crear presentaicon de proyectos.pdf, apartados 1 a 7. Repositorio FocusSync/README.md, FocusSync/features/focus/screens/FocusScreen.tsx, FocusSync/supabase/migrations/202608260001_initial_schema.sql. Funcionalidades descritas a partir del código, sin verificación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1:15–2:05</a:t>
            </a:r>
          </a:p>
          <a:p xmlns:a="http://schemas.openxmlformats.org/drawingml/2006/main">
            <a:r>
              <a:t/>
            </a:r>
          </a:p>
          <a:p xmlns:a="http://schemas.openxmlformats.org/drawingml/2006/main">
            <a:r>
              <a:t>Veamos un ejemplo ilustrativo. Un estudiante escribe: tengo cincuenta y cinco minutos para repasar bases de datos. El plan puede dividirse en veinticinco minutos de teoría, cinco de descanso y veinticinco de práctica. El estudiante revisa los pasos y abre un bloque en el modo enfoque. En un teléfono compatible, el cronómetro espera a que el dispositivo esté boca abajo. Si se levanta durante la sesión, la aplicación detecta la interrupción y pausa el enfoque. Luego el estudiante puede retomar el bloque y consultar la actividad. Este ejemplo describe el recorrido. El historial de prueba que preparamos contiene datos simulados y no representa una evaluación con usuarios.</a:t>
            </a:r>
          </a:p>
          <a:p xmlns:a="http://schemas.openxmlformats.org/drawingml/2006/main">
            <a:r>
              <a:t/>
            </a:r>
          </a:p>
          <a:p xmlns:a="http://schemas.openxmlformats.org/drawingml/2006/main">
            <a:r>
              <a:t>Fuentes: Plantilla para crear presentaicon de proyectos.pdf, apartados 1 a 7. Repositorio FocusSync/README.md, FocusSync/features/focus/screens/FocusScreen.tsx, FocusSync/supabase/migrations/202608260001_initial_schema.sql. Funcionalidades descritas a partir del código, sin verificación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2:05–2:45</a:t>
            </a:r>
          </a:p>
          <a:p xmlns:a="http://schemas.openxmlformats.org/drawingml/2006/main">
            <a:r>
              <a:t/>
            </a:r>
          </a:p>
          <a:p xmlns:a="http://schemas.openxmlformats.org/drawingml/2006/main">
            <a:r>
              <a:t>Los beneficios esperados se relacionan con decisiones concretas. Primero, dividir un tema en bloques ayuda a saber por dónde comenzar. Segundo, registrar interrupciones permite reconocer cuándo se rompe la sesión, en lugar de depender solamente de la memoria. Tercero, el historial y la meta diaria ofrecen una referencia para revisar la constancia. Esto puede servir como apoyo al aprendizaje autónomo. Todavía necesitamos observar el uso real para medir esos beneficios. Por eso distinguimos entre lo que la aplicación permite hacer y el impacto que esperamos comprobar con estudiantes.</a:t>
            </a:r>
          </a:p>
          <a:p xmlns:a="http://schemas.openxmlformats.org/drawingml/2006/main">
            <a:r>
              <a:t/>
            </a:r>
          </a:p>
          <a:p xmlns:a="http://schemas.openxmlformats.org/drawingml/2006/main">
            <a:r>
              <a:t>Fuentes: Plantilla para crear presentaicon de proyectos.pdf, apartados 1 a 7. Repositorio FocusSync/README.md, FocusSync/features/focus/screens/FocusScreen.tsx, FocusSync/supabase/migrations/202608260001_initial_schema.sql. Funcionalidades descritas a partir del código, sin verificación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2:45–3:30</a:t>
            </a:r>
          </a:p>
          <a:p xmlns:a="http://schemas.openxmlformats.org/drawingml/2006/main">
            <a:r>
              <a:t/>
            </a:r>
          </a:p>
          <a:p xmlns:a="http://schemas.openxmlformats.org/drawingml/2006/main">
            <a:r>
              <a:t>La implementación utiliza Expo y React Native para la aplicación móvil y el acceso a los sensores. Supabase gestiona la autenticación y la base de datos. Cada plan pertenece a un usuario, los bloques pertenecen a un plan y las sesiones registran su ejecución. Las reglas de acceso buscan que cada persona consulte sus propios datos. Para generar planes, la app llama a una función del servidor que utiliza Gemini. La clave de ese servicio permanece en el servidor. Esta estructura permite relacionar la solicitud de estudio con el plan y con las sesiones guardadas, en lugar de mostrar información aislada.</a:t>
            </a:r>
          </a:p>
          <a:p xmlns:a="http://schemas.openxmlformats.org/drawingml/2006/main">
            <a:r>
              <a:t/>
            </a:r>
          </a:p>
          <a:p xmlns:a="http://schemas.openxmlformats.org/drawingml/2006/main">
            <a:r>
              <a:t>Fuentes: Plantilla para crear presentaicon de proyectos.pdf, apartados 1 a 7. Repositorio FocusSync/README.md, FocusSync/features/focus/screens/FocusScreen.tsx, FocusSync/supabase/migrations/202608260001_initial_schema.sql. Funcionalidades descritas a partir del código, sin verificación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3:30–4:25</a:t>
            </a:r>
          </a:p>
          <a:p xmlns:a="http://schemas.openxmlformats.org/drawingml/2006/main">
            <a:r>
              <a:t/>
            </a:r>
          </a:p>
          <a:p xmlns:a="http://schemas.openxmlformats.org/drawingml/2006/main">
            <a:r>
              <a:t>Un reto concreto que podemos explicar está en el modo enfoque. Los sensores notifican cambios continuamente. Si cada lectura generara una distracción, una sola acción podría producir varios registros. El código utiliza una bandera para recordar que esa interrupción ya fue atendida. Cuando comienza o se retoma el enfoque, restablece ese control. Una comprobación útil consiste en iniciar un bloque, levantar el teléfono y revisar que aparezca un solo evento para esa interrupción. Después se reanuda y se repite la acción. Este ejemplo muestra una decisión verificable en el proyecto. Antes de exponer, quien desarrolló esta parte debe explicar su contribución personal y el resultado que realmente observó.</a:t>
            </a:r>
          </a:p>
          <a:p xmlns:a="http://schemas.openxmlformats.org/drawingml/2006/main">
            <a:r>
              <a:t/>
            </a:r>
          </a:p>
          <a:p xmlns:a="http://schemas.openxmlformats.org/drawingml/2006/main">
            <a:r>
              <a:t>Fuentes: Plantilla para crear presentaicon de proyectos.pdf, apartados 1 a 7. Repositorio FocusSync/README.md, FocusSync/features/focus/screens/FocusScreen.tsx, FocusSync/supabase/migrations/202608260001_initial_schema.sql. Funcionalidades descritas a partir del código, sin verificación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4:25–5:00</a:t>
            </a:r>
          </a:p>
          <a:p xmlns:a="http://schemas.openxmlformats.org/drawingml/2006/main">
            <a:r>
              <a:t/>
            </a:r>
          </a:p>
          <a:p xmlns:a="http://schemas.openxmlformats.org/drawingml/2006/main">
            <a:r>
              <a:t>FocusSync propone una forma de organizar el estudio y revisar cómo se lleva a cabo. Su valor está en unir el plan con la actividad del estudiante. El siguiente paso que proponemos es realizar una prueba completa con estudiantes: pedir un plan, ejecutar un bloque y revisar el historial. Queremos escuchar si el recorrido resulta claro y si la información les ayuda a ajustar su rutina. Con esas observaciones podremos priorizar mejoras y evaluar el aporte real de la aplicación. Gracias.</a:t>
            </a:r>
          </a:p>
          <a:p xmlns:a="http://schemas.openxmlformats.org/drawingml/2006/main">
            <a:r>
              <a:t/>
            </a:r>
          </a:p>
          <a:p xmlns:a="http://schemas.openxmlformats.org/drawingml/2006/main">
            <a:r>
              <a:t>Fuentes: Plantilla para crear presentaicon de proyectos.pdf, apartados 1 a 7. Repositorio FocusSync/README.md, FocusSync/features/focus/screens/FocusScreen.tsx, FocusSync/supabase/migrations/202608260001_initial_schema.sql. Funcionalidades descritas a partir del código, sin verificación de despliegue.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70bedbf3c34e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9fd22cf7df40be" /><Relationship Type="http://schemas.openxmlformats.org/officeDocument/2006/relationships/slideLayout" Target="/ppt/slideLayouts/slideLayout1.xml" Id="Rc00670e0a15f4f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0670e0a15f4f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fb8264af9b41e7" /><Relationship Type="http://schemas.openxmlformats.org/officeDocument/2006/relationships/notesSlide" Target="/ppt/notesSlides/notesSlide1.xml" Id="R96829708492240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7e8098110d4178" /><Relationship Type="http://schemas.openxmlformats.org/officeDocument/2006/relationships/notesSlide" Target="/ppt/notesSlides/notesSlide2.xml" Id="Rbed316c0b8b345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a25e33a4ad42e8" /><Relationship Type="http://schemas.openxmlformats.org/officeDocument/2006/relationships/notesSlide" Target="/ppt/notesSlides/notesSlide3.xml" Id="R771c118d326748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220b7e1d5b4c8e" /><Relationship Type="http://schemas.openxmlformats.org/officeDocument/2006/relationships/notesSlide" Target="/ppt/notesSlides/notesSlide4.xml" Id="R8e25b46ea03746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edf42bc8974c20" /><Relationship Type="http://schemas.openxmlformats.org/officeDocument/2006/relationships/notesSlide" Target="/ppt/notesSlides/notesSlide5.xml" Id="Rded073ce2e6e40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4ad63fd1604764" /><Relationship Type="http://schemas.openxmlformats.org/officeDocument/2006/relationships/notesSlide" Target="/ppt/notesSlides/notesSlide6.xml" Id="R4bbd7347b89e49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88fd011bff4c5c" /><Relationship Type="http://schemas.openxmlformats.org/officeDocument/2006/relationships/notesSlide" Target="/ppt/notesSlides/notesSlide7.xml" Id="Rbebad319e20a4408" /></Relationships>
</file>

<file path=ppt/slides/slide1.xml><?xml version="1.0" encoding="utf-8"?>
<p:sld xmlns:p="http://schemas.openxmlformats.org/presentationml/2006/main">
  <p:cSld>
    <p:bg>
      <p:bgPr>
        <a:solidFill xmlns:a="http://schemas.openxmlformats.org/drawingml/2006/main">
          <a:srgbClr val="142C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E2F862-B0B1-464B-B25F-67974C99C65A}"/>
              </a:ext>
            </a:extLst>
          </p:cNvPr>
          <p:cNvSpPr>
            <a:spLocks xmlns:a="http://schemas.openxmlformats.org/drawingml/2006/main" noGrp="1"/>
          </p:cNvSpPr>
          <p:nvPr/>
        </p:nvSpPr>
        <p:spPr>
          <a:xfrm xmlns:a="http://schemas.openxmlformats.org/drawingml/2006/main">
            <a:off x="685800" y="3810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0DCCB"/>
                </a:solidFill>
                <a:latin typeface="Arial"/>
                <a:ea typeface="Arial"/>
                <a:cs typeface="Arial"/>
              </a:defRPr>
            </a:pPr>
            <a:r>
              <a:rPr sz="1425" b="1">
                <a:solidFill>
                  <a:srgbClr val="80DCCB"/>
                </a:solidFill>
                <a:latin typeface="Arial"/>
                <a:ea typeface="Arial"/>
                <a:cs typeface="Arial"/>
              </a:rPr>
              <a:t>01  EL PROBLEMA</a:t>
            </a:r>
          </a:p>
        </p:txBody>
      </p:sp>
      <p:sp>
        <p:nvSpPr>
          <p:cNvPr id="2" name="">
            <a:extLst xmlns:a="http://schemas.openxmlformats.org/drawingml/2006/main">
              <a:ext uri="{FF2B5EF4-FFF2-40B4-BE49-F238E27FC236}">
                <a16:creationId xmlns:a16="http://schemas.microsoft.com/office/drawing/2014/main" id="{F8502773-D0D1-43B4-810C-4440F9AA3681}"/>
              </a:ext>
            </a:extLst>
          </p:cNvPr>
          <p:cNvSpPr>
            <a:spLocks xmlns:a="http://schemas.openxmlformats.org/drawingml/2006/main" noGrp="1"/>
          </p:cNvSpPr>
          <p:nvPr/>
        </p:nvSpPr>
        <p:spPr>
          <a:xfrm xmlns:a="http://schemas.openxmlformats.org/drawingml/2006/main">
            <a:off x="685800" y="904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FocusSync</a:t>
            </a:r>
          </a:p>
        </p:txBody>
      </p:sp>
      <p:sp>
        <p:nvSpPr>
          <p:cNvPr id="3" name="">
            <a:extLst xmlns:a="http://schemas.openxmlformats.org/drawingml/2006/main">
              <a:ext uri="{FF2B5EF4-FFF2-40B4-BE49-F238E27FC236}">
                <a16:creationId xmlns:a16="http://schemas.microsoft.com/office/drawing/2014/main" id="{01CC4495-E1B8-481F-9F81-7BB414D003EA}"/>
              </a:ext>
            </a:extLst>
          </p:cNvPr>
          <p:cNvSpPr>
            <a:spLocks xmlns:a="http://schemas.openxmlformats.org/drawingml/2006/main" noGrp="1"/>
          </p:cNvSpPr>
          <p:nvPr/>
        </p:nvSpPr>
        <p:spPr>
          <a:xfrm xmlns:a="http://schemas.openxmlformats.org/drawingml/2006/main">
            <a:off x="685800" y="204787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¿Cuánto de tu tiempo de estudio</a:t>
            </a:r>
          </a:p>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es realmente tiempo de enfoque?</a:t>
            </a:r>
          </a:p>
        </p:txBody>
      </p:sp>
      <p:sp>
        <p:nvSpPr>
          <p:cNvPr id="4" name="">
            <a:extLst xmlns:a="http://schemas.openxmlformats.org/drawingml/2006/main">
              <a:ext uri="{FF2B5EF4-FFF2-40B4-BE49-F238E27FC236}">
                <a16:creationId xmlns:a16="http://schemas.microsoft.com/office/drawing/2014/main" id="{B9214437-5EE7-43C5-8CBA-9EED5DEAC6ED}"/>
              </a:ext>
            </a:extLst>
          </p:cNvPr>
          <p:cNvSpPr>
            <a:spLocks xmlns:a="http://schemas.openxmlformats.org/drawingml/2006/main" noGrp="1"/>
          </p:cNvSpPr>
          <p:nvPr/>
        </p:nvSpPr>
        <p:spPr>
          <a:xfrm xmlns:a="http://schemas.openxmlformats.org/drawingml/2006/main">
            <a:off x="685800" y="37623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AE4EF"/>
                </a:solidFill>
                <a:latin typeface="Arial"/>
                <a:ea typeface="Arial"/>
                <a:cs typeface="Arial"/>
              </a:defRPr>
            </a:pPr>
            <a:r>
              <a:rPr sz="1950" b="0">
                <a:solidFill>
                  <a:srgbClr val="DAE4EF"/>
                </a:solidFill>
                <a:latin typeface="Arial"/>
                <a:ea typeface="Arial"/>
                <a:cs typeface="Arial"/>
              </a:rPr>
              <a:t>Una sesión puede empezar sin un plan claro</a:t>
            </a:r>
          </a:p>
          <a:p xmlns:a="http://schemas.openxmlformats.org/drawingml/2006/main">
            <a:pPr>
              <a:defRPr sz="1950" b="0">
                <a:solidFill>
                  <a:srgbClr val="DAE4EF"/>
                </a:solidFill>
                <a:latin typeface="Arial"/>
                <a:ea typeface="Arial"/>
                <a:cs typeface="Arial"/>
              </a:defRPr>
            </a:pPr>
            <a:r>
              <a:rPr sz="1950" b="0">
                <a:solidFill>
                  <a:srgbClr val="DAE4EF"/>
                </a:solidFill>
                <a:latin typeface="Arial"/>
                <a:ea typeface="Arial"/>
                <a:cs typeface="Arial"/>
              </a:rPr>
              <a:t>y terminar entre interrupciones del teléfono.</a:t>
            </a:r>
          </a:p>
        </p:txBody>
      </p:sp>
      <p:sp>
        <p:nvSpPr>
          <p:cNvPr id="5" name="">
            <a:extLst xmlns:a="http://schemas.openxmlformats.org/drawingml/2006/main">
              <a:ext uri="{FF2B5EF4-FFF2-40B4-BE49-F238E27FC236}">
                <a16:creationId xmlns:a16="http://schemas.microsoft.com/office/drawing/2014/main" id="{EF3C630E-D6CF-4882-8F2C-4E7A7AA1B25B}"/>
              </a:ext>
            </a:extLst>
          </p:cNvPr>
          <p:cNvSpPr>
            <a:spLocks xmlns:a="http://schemas.openxmlformats.org/drawingml/2006/main" noGrp="1"/>
          </p:cNvSpPr>
          <p:nvPr/>
        </p:nvSpPr>
        <p:spPr>
          <a:xfrm xmlns:a="http://schemas.openxmlformats.org/drawingml/2006/main">
            <a:off x="1076325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AE4EF"/>
                </a:solidFill>
                <a:latin typeface="Arial"/>
                <a:ea typeface="Arial"/>
                <a:cs typeface="Arial"/>
              </a:defRPr>
            </a:pPr>
            <a:r>
              <a:rPr sz="1200" b="0">
                <a:solidFill>
                  <a:srgbClr val="DAE4EF"/>
                </a:solidFill>
                <a:latin typeface="Arial"/>
                <a:ea typeface="Arial"/>
                <a:cs typeface="Arial"/>
              </a:rPr>
              <a:t>1 / 7</a:t>
            </a:r>
          </a:p>
        </p:txBody>
      </p:sp>
    </p:spTree>
    <p:extLst>
      <p:ext uri="{BB962C8B-B14F-4D97-AF65-F5344CB8AC3E}">
        <p14:creationId xmlns:p14="http://schemas.microsoft.com/office/powerpoint/2010/main" val="2125260086"/>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56FAFF-B6BE-4C01-9055-D27934D1ACDB}"/>
              </a:ext>
            </a:extLst>
          </p:cNvPr>
          <p:cNvSpPr>
            <a:spLocks xmlns:a="http://schemas.openxmlformats.org/drawingml/2006/main" noGrp="1"/>
          </p:cNvSpPr>
          <p:nvPr/>
        </p:nvSpPr>
        <p:spPr>
          <a:xfrm xmlns:a="http://schemas.openxmlformats.org/drawingml/2006/main">
            <a:off x="685800" y="3810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327B70"/>
                </a:solidFill>
                <a:latin typeface="Arial"/>
                <a:ea typeface="Arial"/>
                <a:cs typeface="Arial"/>
              </a:defRPr>
            </a:pPr>
            <a:r>
              <a:rPr sz="1425" b="1">
                <a:solidFill>
                  <a:srgbClr val="327B70"/>
                </a:solidFill>
                <a:latin typeface="Arial"/>
                <a:ea typeface="Arial"/>
                <a:cs typeface="Arial"/>
              </a:rPr>
              <a:t>02  LA IDEA CENTRAL</a:t>
            </a:r>
          </a:p>
        </p:txBody>
      </p:sp>
      <p:sp>
        <p:nvSpPr>
          <p:cNvPr id="2" name="">
            <a:extLst xmlns:a="http://schemas.openxmlformats.org/drawingml/2006/main">
              <a:ext uri="{FF2B5EF4-FFF2-40B4-BE49-F238E27FC236}">
                <a16:creationId xmlns:a16="http://schemas.microsoft.com/office/drawing/2014/main" id="{508154CD-659D-4887-869F-3D745585A1B5}"/>
              </a:ext>
            </a:extLst>
          </p:cNvPr>
          <p:cNvSpPr>
            <a:spLocks xmlns:a="http://schemas.openxmlformats.org/drawingml/2006/main" noGrp="1"/>
          </p:cNvSpPr>
          <p:nvPr/>
        </p:nvSpPr>
        <p:spPr>
          <a:xfrm xmlns:a="http://schemas.openxmlformats.org/drawingml/2006/main">
            <a:off x="685800" y="904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153"/>
                </a:solidFill>
                <a:latin typeface="Arial"/>
                <a:ea typeface="Arial"/>
                <a:cs typeface="Arial"/>
              </a:defRPr>
            </a:pPr>
            <a:r>
              <a:rPr sz="3600" b="1">
                <a:solidFill>
                  <a:srgbClr val="183153"/>
                </a:solidFill>
                <a:latin typeface="Arial"/>
                <a:ea typeface="Arial"/>
                <a:cs typeface="Arial"/>
              </a:rPr>
              <a:t>El valor de FocusSync</a:t>
            </a:r>
          </a:p>
        </p:txBody>
      </p:sp>
      <p:sp>
        <p:nvSpPr>
          <p:cNvPr id="3" name="">
            <a:extLst xmlns:a="http://schemas.openxmlformats.org/drawingml/2006/main">
              <a:ext uri="{FF2B5EF4-FFF2-40B4-BE49-F238E27FC236}">
                <a16:creationId xmlns:a16="http://schemas.microsoft.com/office/drawing/2014/main" id="{6FBD0EDC-3D80-473D-88F1-98C4421AD184}"/>
              </a:ext>
            </a:extLst>
          </p:cNvPr>
          <p:cNvSpPr>
            <a:spLocks xmlns:a="http://schemas.openxmlformats.org/drawingml/2006/main" noGrp="1"/>
          </p:cNvSpPr>
          <p:nvPr/>
        </p:nvSpPr>
        <p:spPr>
          <a:xfrm xmlns:a="http://schemas.openxmlformats.org/drawingml/2006/main">
            <a:off x="685800" y="204787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Un plan de estudio conectado</a:t>
            </a:r>
          </a:p>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con la sesión y su historial</a:t>
            </a:r>
          </a:p>
        </p:txBody>
      </p:sp>
      <p:sp>
        <p:nvSpPr>
          <p:cNvPr id="4" name="">
            <a:extLst xmlns:a="http://schemas.openxmlformats.org/drawingml/2006/main">
              <a:ext uri="{FF2B5EF4-FFF2-40B4-BE49-F238E27FC236}">
                <a16:creationId xmlns:a16="http://schemas.microsoft.com/office/drawing/2014/main" id="{55D116B9-FA99-4F46-9388-E02FE045AAAB}"/>
              </a:ext>
            </a:extLst>
          </p:cNvPr>
          <p:cNvSpPr>
            <a:spLocks xmlns:a="http://schemas.openxmlformats.org/drawingml/2006/main" noGrp="1"/>
          </p:cNvSpPr>
          <p:nvPr/>
        </p:nvSpPr>
        <p:spPr>
          <a:xfrm xmlns:a="http://schemas.openxmlformats.org/drawingml/2006/main">
            <a:off x="685800" y="37623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La IA propone bloques de trabajo.</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El modo enfoque acompaña su ejecución.</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El historial permite revisar lo que ocurrió.</a:t>
            </a:r>
          </a:p>
        </p:txBody>
      </p:sp>
      <p:sp>
        <p:nvSpPr>
          <p:cNvPr id="5" name="">
            <a:extLst xmlns:a="http://schemas.openxmlformats.org/drawingml/2006/main">
              <a:ext uri="{FF2B5EF4-FFF2-40B4-BE49-F238E27FC236}">
                <a16:creationId xmlns:a16="http://schemas.microsoft.com/office/drawing/2014/main" id="{2D7F7E41-9414-48D4-AB09-823345F24ECE}"/>
              </a:ext>
            </a:extLst>
          </p:cNvPr>
          <p:cNvSpPr>
            <a:spLocks xmlns:a="http://schemas.openxmlformats.org/drawingml/2006/main" noGrp="1"/>
          </p:cNvSpPr>
          <p:nvPr/>
        </p:nvSpPr>
        <p:spPr>
          <a:xfrm xmlns:a="http://schemas.openxmlformats.org/drawingml/2006/main">
            <a:off x="1076325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A7F"/>
                </a:solidFill>
                <a:latin typeface="Arial"/>
                <a:ea typeface="Arial"/>
                <a:cs typeface="Arial"/>
              </a:defRPr>
            </a:pPr>
            <a:r>
              <a:rPr sz="1200" b="0">
                <a:solidFill>
                  <a:srgbClr val="586A7F"/>
                </a:solidFill>
                <a:latin typeface="Arial"/>
                <a:ea typeface="Arial"/>
                <a:cs typeface="Arial"/>
              </a:rPr>
              <a:t>2 / 7</a:t>
            </a:r>
          </a:p>
        </p:txBody>
      </p:sp>
    </p:spTree>
    <p:extLst>
      <p:ext uri="{BB962C8B-B14F-4D97-AF65-F5344CB8AC3E}">
        <p14:creationId xmlns:p14="http://schemas.microsoft.com/office/powerpoint/2010/main" val="858405737"/>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762755-3F8F-49FE-867E-5C2E21D3C52E}"/>
              </a:ext>
            </a:extLst>
          </p:cNvPr>
          <p:cNvSpPr>
            <a:spLocks xmlns:a="http://schemas.openxmlformats.org/drawingml/2006/main" noGrp="1"/>
          </p:cNvSpPr>
          <p:nvPr/>
        </p:nvSpPr>
        <p:spPr>
          <a:xfrm xmlns:a="http://schemas.openxmlformats.org/drawingml/2006/main">
            <a:off x="685800" y="3810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327B70"/>
                </a:solidFill>
                <a:latin typeface="Arial"/>
                <a:ea typeface="Arial"/>
                <a:cs typeface="Arial"/>
              </a:defRPr>
            </a:pPr>
            <a:r>
              <a:rPr sz="1425" b="1">
                <a:solidFill>
                  <a:srgbClr val="327B70"/>
                </a:solidFill>
                <a:latin typeface="Arial"/>
                <a:ea typeface="Arial"/>
                <a:cs typeface="Arial"/>
              </a:rPr>
              <a:t>03  QUÉ HACE LA SOLUCIÓN</a:t>
            </a:r>
          </a:p>
        </p:txBody>
      </p:sp>
      <p:sp>
        <p:nvSpPr>
          <p:cNvPr id="2" name="">
            <a:extLst xmlns:a="http://schemas.openxmlformats.org/drawingml/2006/main">
              <a:ext uri="{FF2B5EF4-FFF2-40B4-BE49-F238E27FC236}">
                <a16:creationId xmlns:a16="http://schemas.microsoft.com/office/drawing/2014/main" id="{DD431DDC-687A-4F3C-B5C8-77985F11F87D}"/>
              </a:ext>
            </a:extLst>
          </p:cNvPr>
          <p:cNvSpPr>
            <a:spLocks xmlns:a="http://schemas.openxmlformats.org/drawingml/2006/main" noGrp="1"/>
          </p:cNvSpPr>
          <p:nvPr/>
        </p:nvSpPr>
        <p:spPr>
          <a:xfrm xmlns:a="http://schemas.openxmlformats.org/drawingml/2006/main">
            <a:off x="685800" y="904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153"/>
                </a:solidFill>
                <a:latin typeface="Arial"/>
                <a:ea typeface="Arial"/>
                <a:cs typeface="Arial"/>
              </a:defRPr>
            </a:pPr>
            <a:r>
              <a:rPr sz="3600" b="1">
                <a:solidFill>
                  <a:srgbClr val="183153"/>
                </a:solidFill>
                <a:latin typeface="Arial"/>
                <a:ea typeface="Arial"/>
                <a:cs typeface="Arial"/>
              </a:rPr>
              <a:t>Una sesión de estudio</a:t>
            </a:r>
          </a:p>
        </p:txBody>
      </p:sp>
      <p:sp>
        <p:nvSpPr>
          <p:cNvPr id="3" name="">
            <a:extLst xmlns:a="http://schemas.openxmlformats.org/drawingml/2006/main">
              <a:ext uri="{FF2B5EF4-FFF2-40B4-BE49-F238E27FC236}">
                <a16:creationId xmlns:a16="http://schemas.microsoft.com/office/drawing/2014/main" id="{487B1CEB-18AF-4669-94FD-84E784D84722}"/>
              </a:ext>
            </a:extLst>
          </p:cNvPr>
          <p:cNvSpPr>
            <a:spLocks xmlns:a="http://schemas.openxmlformats.org/drawingml/2006/main" noGrp="1"/>
          </p:cNvSpPr>
          <p:nvPr/>
        </p:nvSpPr>
        <p:spPr>
          <a:xfrm xmlns:a="http://schemas.openxmlformats.org/drawingml/2006/main">
            <a:off x="685800" y="204787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“Tengo 55 minutos para</a:t>
            </a:r>
          </a:p>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repasar bases de datos”</a:t>
            </a:r>
          </a:p>
        </p:txBody>
      </p:sp>
      <p:sp>
        <p:nvSpPr>
          <p:cNvPr id="4" name="">
            <a:extLst xmlns:a="http://schemas.openxmlformats.org/drawingml/2006/main">
              <a:ext uri="{FF2B5EF4-FFF2-40B4-BE49-F238E27FC236}">
                <a16:creationId xmlns:a16="http://schemas.microsoft.com/office/drawing/2014/main" id="{332B1FC5-9455-4D1E-BD3D-930DE1E04596}"/>
              </a:ext>
            </a:extLst>
          </p:cNvPr>
          <p:cNvSpPr>
            <a:spLocks xmlns:a="http://schemas.openxmlformats.org/drawingml/2006/main" noGrp="1"/>
          </p:cNvSpPr>
          <p:nvPr/>
        </p:nvSpPr>
        <p:spPr>
          <a:xfrm xmlns:a="http://schemas.openxmlformats.org/drawingml/2006/main">
            <a:off x="685800" y="37623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25 min de teoría     5 min de descanso     25 min de práctica</a:t>
            </a:r>
          </a:p>
          <a:p xmlns:a="http://schemas.openxmlformats.org/drawingml/2006/main">
            <a:r>
              <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El estudiante elige un bloque, coloca el teléfono boca abajo</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y consulta el registro al terminar.</a:t>
            </a:r>
          </a:p>
        </p:txBody>
      </p:sp>
      <p:sp>
        <p:nvSpPr>
          <p:cNvPr id="5" name="">
            <a:extLst xmlns:a="http://schemas.openxmlformats.org/drawingml/2006/main">
              <a:ext uri="{FF2B5EF4-FFF2-40B4-BE49-F238E27FC236}">
                <a16:creationId xmlns:a16="http://schemas.microsoft.com/office/drawing/2014/main" id="{66CE253A-4DCA-41E7-BD84-D23E4F02F21D}"/>
              </a:ext>
            </a:extLst>
          </p:cNvPr>
          <p:cNvSpPr>
            <a:spLocks xmlns:a="http://schemas.openxmlformats.org/drawingml/2006/main" noGrp="1"/>
          </p:cNvSpPr>
          <p:nvPr/>
        </p:nvSpPr>
        <p:spPr>
          <a:xfrm xmlns:a="http://schemas.openxmlformats.org/drawingml/2006/main">
            <a:off x="1076325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A7F"/>
                </a:solidFill>
                <a:latin typeface="Arial"/>
                <a:ea typeface="Arial"/>
                <a:cs typeface="Arial"/>
              </a:defRPr>
            </a:pPr>
            <a:r>
              <a:rPr sz="1200" b="0">
                <a:solidFill>
                  <a:srgbClr val="586A7F"/>
                </a:solidFill>
                <a:latin typeface="Arial"/>
                <a:ea typeface="Arial"/>
                <a:cs typeface="Arial"/>
              </a:rPr>
              <a:t>3 / 7</a:t>
            </a:r>
          </a:p>
        </p:txBody>
      </p:sp>
    </p:spTree>
    <p:extLst>
      <p:ext uri="{BB962C8B-B14F-4D97-AF65-F5344CB8AC3E}">
        <p14:creationId xmlns:p14="http://schemas.microsoft.com/office/powerpoint/2010/main" val="183815635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19D444-59B6-4917-A7CB-A1D3F2198B3C}"/>
              </a:ext>
            </a:extLst>
          </p:cNvPr>
          <p:cNvSpPr>
            <a:spLocks xmlns:a="http://schemas.openxmlformats.org/drawingml/2006/main" noGrp="1"/>
          </p:cNvSpPr>
          <p:nvPr/>
        </p:nvSpPr>
        <p:spPr>
          <a:xfrm xmlns:a="http://schemas.openxmlformats.org/drawingml/2006/main">
            <a:off x="685800" y="3810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327B70"/>
                </a:solidFill>
                <a:latin typeface="Arial"/>
                <a:ea typeface="Arial"/>
                <a:cs typeface="Arial"/>
              </a:defRPr>
            </a:pPr>
            <a:r>
              <a:rPr sz="1425" b="1">
                <a:solidFill>
                  <a:srgbClr val="327B70"/>
                </a:solidFill>
                <a:latin typeface="Arial"/>
                <a:ea typeface="Arial"/>
                <a:cs typeface="Arial"/>
              </a:rPr>
              <a:t>04  BENEFICIO PARA EL USUARIO</a:t>
            </a:r>
          </a:p>
        </p:txBody>
      </p:sp>
      <p:sp>
        <p:nvSpPr>
          <p:cNvPr id="2" name="">
            <a:extLst xmlns:a="http://schemas.openxmlformats.org/drawingml/2006/main">
              <a:ext uri="{FF2B5EF4-FFF2-40B4-BE49-F238E27FC236}">
                <a16:creationId xmlns:a16="http://schemas.microsoft.com/office/drawing/2014/main" id="{A281CB2E-2DC0-45E9-A2AA-CC8B811C9646}"/>
              </a:ext>
            </a:extLst>
          </p:cNvPr>
          <p:cNvSpPr>
            <a:spLocks xmlns:a="http://schemas.openxmlformats.org/drawingml/2006/main" noGrp="1"/>
          </p:cNvSpPr>
          <p:nvPr/>
        </p:nvSpPr>
        <p:spPr>
          <a:xfrm xmlns:a="http://schemas.openxmlformats.org/drawingml/2006/main">
            <a:off x="685800" y="904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153"/>
                </a:solidFill>
                <a:latin typeface="Arial"/>
                <a:ea typeface="Arial"/>
                <a:cs typeface="Arial"/>
              </a:defRPr>
            </a:pPr>
            <a:r>
              <a:rPr sz="3600" b="1">
                <a:solidFill>
                  <a:srgbClr val="183153"/>
                </a:solidFill>
                <a:latin typeface="Arial"/>
                <a:ea typeface="Arial"/>
                <a:cs typeface="Arial"/>
              </a:rPr>
              <a:t>Beneficios para el estudiante</a:t>
            </a:r>
          </a:p>
        </p:txBody>
      </p:sp>
      <p:sp>
        <p:nvSpPr>
          <p:cNvPr id="3" name="">
            <a:extLst xmlns:a="http://schemas.openxmlformats.org/drawingml/2006/main">
              <a:ext uri="{FF2B5EF4-FFF2-40B4-BE49-F238E27FC236}">
                <a16:creationId xmlns:a16="http://schemas.microsoft.com/office/drawing/2014/main" id="{421DB3B6-EA70-4207-85A2-2BAF862195A8}"/>
              </a:ext>
            </a:extLst>
          </p:cNvPr>
          <p:cNvSpPr>
            <a:spLocks xmlns:a="http://schemas.openxmlformats.org/drawingml/2006/main" noGrp="1"/>
          </p:cNvSpPr>
          <p:nvPr/>
        </p:nvSpPr>
        <p:spPr>
          <a:xfrm xmlns:a="http://schemas.openxmlformats.org/drawingml/2006/main">
            <a:off x="685800" y="204787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Una rutina más fácil de revisar</a:t>
            </a:r>
          </a:p>
        </p:txBody>
      </p:sp>
      <p:sp>
        <p:nvSpPr>
          <p:cNvPr id="4" name="">
            <a:extLst xmlns:a="http://schemas.openxmlformats.org/drawingml/2006/main">
              <a:ext uri="{FF2B5EF4-FFF2-40B4-BE49-F238E27FC236}">
                <a16:creationId xmlns:a16="http://schemas.microsoft.com/office/drawing/2014/main" id="{EF10C2F7-028A-410B-91F7-1A45D10717F2}"/>
              </a:ext>
            </a:extLst>
          </p:cNvPr>
          <p:cNvSpPr>
            <a:spLocks xmlns:a="http://schemas.openxmlformats.org/drawingml/2006/main" noGrp="1"/>
          </p:cNvSpPr>
          <p:nvPr/>
        </p:nvSpPr>
        <p:spPr>
          <a:xfrm xmlns:a="http://schemas.openxmlformats.org/drawingml/2006/main">
            <a:off x="685800" y="37623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Claridad para empezar: un tema dividido en bloques.</a:t>
            </a:r>
          </a:p>
          <a:p xmlns:a="http://schemas.openxmlformats.org/drawingml/2006/main">
            <a:r>
              <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Conciencia de las interrupciones: eventos registrados.</a:t>
            </a:r>
          </a:p>
          <a:p xmlns:a="http://schemas.openxmlformats.org/drawingml/2006/main">
            <a:r>
              <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Seguimiento personal: sesiones, minutos y meta diaria.</a:t>
            </a:r>
          </a:p>
        </p:txBody>
      </p:sp>
      <p:sp>
        <p:nvSpPr>
          <p:cNvPr id="5" name="">
            <a:extLst xmlns:a="http://schemas.openxmlformats.org/drawingml/2006/main">
              <a:ext uri="{FF2B5EF4-FFF2-40B4-BE49-F238E27FC236}">
                <a16:creationId xmlns:a16="http://schemas.microsoft.com/office/drawing/2014/main" id="{8FDCAECC-F446-4D7E-8726-8994195FCECE}"/>
              </a:ext>
            </a:extLst>
          </p:cNvPr>
          <p:cNvSpPr>
            <a:spLocks xmlns:a="http://schemas.openxmlformats.org/drawingml/2006/main" noGrp="1"/>
          </p:cNvSpPr>
          <p:nvPr/>
        </p:nvSpPr>
        <p:spPr>
          <a:xfrm xmlns:a="http://schemas.openxmlformats.org/drawingml/2006/main">
            <a:off x="1076325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A7F"/>
                </a:solidFill>
                <a:latin typeface="Arial"/>
                <a:ea typeface="Arial"/>
                <a:cs typeface="Arial"/>
              </a:defRPr>
            </a:pPr>
            <a:r>
              <a:rPr sz="1200" b="0">
                <a:solidFill>
                  <a:srgbClr val="586A7F"/>
                </a:solidFill>
                <a:latin typeface="Arial"/>
                <a:ea typeface="Arial"/>
                <a:cs typeface="Arial"/>
              </a:rPr>
              <a:t>4 / 7</a:t>
            </a:r>
          </a:p>
        </p:txBody>
      </p:sp>
    </p:spTree>
    <p:extLst>
      <p:ext uri="{BB962C8B-B14F-4D97-AF65-F5344CB8AC3E}">
        <p14:creationId xmlns:p14="http://schemas.microsoft.com/office/powerpoint/2010/main" val="1974386517"/>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27F2A2-E7B1-475D-8639-D18EF9BF9056}"/>
              </a:ext>
            </a:extLst>
          </p:cNvPr>
          <p:cNvSpPr>
            <a:spLocks xmlns:a="http://schemas.openxmlformats.org/drawingml/2006/main" noGrp="1"/>
          </p:cNvSpPr>
          <p:nvPr/>
        </p:nvSpPr>
        <p:spPr>
          <a:xfrm xmlns:a="http://schemas.openxmlformats.org/drawingml/2006/main">
            <a:off x="685800" y="3810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327B70"/>
                </a:solidFill>
                <a:latin typeface="Arial"/>
                <a:ea typeface="Arial"/>
                <a:cs typeface="Arial"/>
              </a:defRPr>
            </a:pPr>
            <a:r>
              <a:rPr sz="1425" b="1">
                <a:solidFill>
                  <a:srgbClr val="327B70"/>
                </a:solidFill>
                <a:latin typeface="Arial"/>
                <a:ea typeface="Arial"/>
                <a:cs typeface="Arial"/>
              </a:rPr>
              <a:t>05  RESPALDO TÉCNICO</a:t>
            </a:r>
          </a:p>
        </p:txBody>
      </p:sp>
      <p:sp>
        <p:nvSpPr>
          <p:cNvPr id="2" name="">
            <a:extLst xmlns:a="http://schemas.openxmlformats.org/drawingml/2006/main">
              <a:ext uri="{FF2B5EF4-FFF2-40B4-BE49-F238E27FC236}">
                <a16:creationId xmlns:a16="http://schemas.microsoft.com/office/drawing/2014/main" id="{F82201AF-A8B1-4DC0-8DCB-3872E355BEFA}"/>
              </a:ext>
            </a:extLst>
          </p:cNvPr>
          <p:cNvSpPr>
            <a:spLocks xmlns:a="http://schemas.openxmlformats.org/drawingml/2006/main" noGrp="1"/>
          </p:cNvSpPr>
          <p:nvPr/>
        </p:nvSpPr>
        <p:spPr>
          <a:xfrm xmlns:a="http://schemas.openxmlformats.org/drawingml/2006/main">
            <a:off x="685800" y="904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153"/>
                </a:solidFill>
                <a:latin typeface="Arial"/>
                <a:ea typeface="Arial"/>
                <a:cs typeface="Arial"/>
              </a:defRPr>
            </a:pPr>
            <a:r>
              <a:rPr sz="3600" b="1">
                <a:solidFill>
                  <a:srgbClr val="183153"/>
                </a:solidFill>
                <a:latin typeface="Arial"/>
                <a:ea typeface="Arial"/>
                <a:cs typeface="Arial"/>
              </a:rPr>
              <a:t>La tecnología que lo sostiene</a:t>
            </a:r>
          </a:p>
        </p:txBody>
      </p:sp>
      <p:sp>
        <p:nvSpPr>
          <p:cNvPr id="3" name="">
            <a:extLst xmlns:a="http://schemas.openxmlformats.org/drawingml/2006/main">
              <a:ext uri="{FF2B5EF4-FFF2-40B4-BE49-F238E27FC236}">
                <a16:creationId xmlns:a16="http://schemas.microsoft.com/office/drawing/2014/main" id="{220D262A-8CEE-4AF0-B5E9-0880C02C84EC}"/>
              </a:ext>
            </a:extLst>
          </p:cNvPr>
          <p:cNvSpPr>
            <a:spLocks xmlns:a="http://schemas.openxmlformats.org/drawingml/2006/main" noGrp="1"/>
          </p:cNvSpPr>
          <p:nvPr/>
        </p:nvSpPr>
        <p:spPr>
          <a:xfrm xmlns:a="http://schemas.openxmlformats.org/drawingml/2006/main">
            <a:off x="685800" y="204787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La app guarda el contexto</a:t>
            </a:r>
          </a:p>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de cada sesión</a:t>
            </a:r>
          </a:p>
        </p:txBody>
      </p:sp>
      <p:sp>
        <p:nvSpPr>
          <p:cNvPr id="4" name="">
            <a:extLst xmlns:a="http://schemas.openxmlformats.org/drawingml/2006/main">
              <a:ext uri="{FF2B5EF4-FFF2-40B4-BE49-F238E27FC236}">
                <a16:creationId xmlns:a16="http://schemas.microsoft.com/office/drawing/2014/main" id="{20D1F117-3656-4B63-B74C-88C1AFCC83C4}"/>
              </a:ext>
            </a:extLst>
          </p:cNvPr>
          <p:cNvSpPr>
            <a:spLocks xmlns:a="http://schemas.openxmlformats.org/drawingml/2006/main" noGrp="1"/>
          </p:cNvSpPr>
          <p:nvPr/>
        </p:nvSpPr>
        <p:spPr>
          <a:xfrm xmlns:a="http://schemas.openxmlformats.org/drawingml/2006/main">
            <a:off x="685800" y="37623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Expo y React Native: aplicación móvil y sensores.</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Supabase: acceso, base de datos y reglas por usuario.</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Gemini: generación de planes mediante una función del servidor.</a:t>
            </a:r>
          </a:p>
        </p:txBody>
      </p:sp>
      <p:sp>
        <p:nvSpPr>
          <p:cNvPr id="5" name="">
            <a:extLst xmlns:a="http://schemas.openxmlformats.org/drawingml/2006/main">
              <a:ext uri="{FF2B5EF4-FFF2-40B4-BE49-F238E27FC236}">
                <a16:creationId xmlns:a16="http://schemas.microsoft.com/office/drawing/2014/main" id="{20A00AE8-B233-4AE3-948F-47FBC08DBFF0}"/>
              </a:ext>
            </a:extLst>
          </p:cNvPr>
          <p:cNvSpPr>
            <a:spLocks xmlns:a="http://schemas.openxmlformats.org/drawingml/2006/main" noGrp="1"/>
          </p:cNvSpPr>
          <p:nvPr/>
        </p:nvSpPr>
        <p:spPr>
          <a:xfrm xmlns:a="http://schemas.openxmlformats.org/drawingml/2006/main">
            <a:off x="1076325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A7F"/>
                </a:solidFill>
                <a:latin typeface="Arial"/>
                <a:ea typeface="Arial"/>
                <a:cs typeface="Arial"/>
              </a:defRPr>
            </a:pPr>
            <a:r>
              <a:rPr sz="1200" b="0">
                <a:solidFill>
                  <a:srgbClr val="586A7F"/>
                </a:solidFill>
                <a:latin typeface="Arial"/>
                <a:ea typeface="Arial"/>
                <a:cs typeface="Arial"/>
              </a:rPr>
              <a:t>5 / 7</a:t>
            </a:r>
          </a:p>
        </p:txBody>
      </p:sp>
    </p:spTree>
    <p:extLst>
      <p:ext uri="{BB962C8B-B14F-4D97-AF65-F5344CB8AC3E}">
        <p14:creationId xmlns:p14="http://schemas.microsoft.com/office/powerpoint/2010/main" val="35966773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E87D00-1388-4C59-86AA-87090D74FA4D}"/>
              </a:ext>
            </a:extLst>
          </p:cNvPr>
          <p:cNvSpPr>
            <a:spLocks xmlns:a="http://schemas.openxmlformats.org/drawingml/2006/main" noGrp="1"/>
          </p:cNvSpPr>
          <p:nvPr/>
        </p:nvSpPr>
        <p:spPr>
          <a:xfrm xmlns:a="http://schemas.openxmlformats.org/drawingml/2006/main">
            <a:off x="685800" y="3810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327B70"/>
                </a:solidFill>
                <a:latin typeface="Arial"/>
                <a:ea typeface="Arial"/>
                <a:cs typeface="Arial"/>
              </a:defRPr>
            </a:pPr>
            <a:r>
              <a:rPr sz="1425" b="1">
                <a:solidFill>
                  <a:srgbClr val="327B70"/>
                </a:solidFill>
                <a:latin typeface="Arial"/>
                <a:ea typeface="Arial"/>
                <a:cs typeface="Arial"/>
              </a:rPr>
              <a:t>06  EVIDENCIA DE PARTICIPACIÓN</a:t>
            </a:r>
          </a:p>
        </p:txBody>
      </p:sp>
      <p:sp>
        <p:nvSpPr>
          <p:cNvPr id="2" name="">
            <a:extLst xmlns:a="http://schemas.openxmlformats.org/drawingml/2006/main">
              <a:ext uri="{FF2B5EF4-FFF2-40B4-BE49-F238E27FC236}">
                <a16:creationId xmlns:a16="http://schemas.microsoft.com/office/drawing/2014/main" id="{312800AD-A867-4079-9F52-59C56B695A31}"/>
              </a:ext>
            </a:extLst>
          </p:cNvPr>
          <p:cNvSpPr>
            <a:spLocks xmlns:a="http://schemas.openxmlformats.org/drawingml/2006/main" noGrp="1"/>
          </p:cNvSpPr>
          <p:nvPr/>
        </p:nvSpPr>
        <p:spPr>
          <a:xfrm xmlns:a="http://schemas.openxmlformats.org/drawingml/2006/main">
            <a:off x="685800" y="904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153"/>
                </a:solidFill>
                <a:latin typeface="Arial"/>
                <a:ea typeface="Arial"/>
                <a:cs typeface="Arial"/>
              </a:defRPr>
            </a:pPr>
            <a:r>
              <a:rPr sz="3600" b="1">
                <a:solidFill>
                  <a:srgbClr val="183153"/>
                </a:solidFill>
                <a:latin typeface="Arial"/>
                <a:ea typeface="Arial"/>
                <a:cs typeface="Arial"/>
              </a:rPr>
              <a:t>Un reto concreto del proyecto</a:t>
            </a:r>
          </a:p>
        </p:txBody>
      </p:sp>
      <p:sp>
        <p:nvSpPr>
          <p:cNvPr id="3" name="">
            <a:extLst xmlns:a="http://schemas.openxmlformats.org/drawingml/2006/main">
              <a:ext uri="{FF2B5EF4-FFF2-40B4-BE49-F238E27FC236}">
                <a16:creationId xmlns:a16="http://schemas.microsoft.com/office/drawing/2014/main" id="{D6F230D8-535E-4DE6-A2F4-0BEA31500845}"/>
              </a:ext>
            </a:extLst>
          </p:cNvPr>
          <p:cNvSpPr>
            <a:spLocks xmlns:a="http://schemas.openxmlformats.org/drawingml/2006/main" noGrp="1"/>
          </p:cNvSpPr>
          <p:nvPr/>
        </p:nvSpPr>
        <p:spPr>
          <a:xfrm xmlns:a="http://schemas.openxmlformats.org/drawingml/2006/main">
            <a:off x="685800" y="204787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Registrar una interrupción</a:t>
            </a:r>
          </a:p>
          <a:p xmlns:a="http://schemas.openxmlformats.org/drawingml/2006/main">
            <a:pPr>
              <a:defRPr sz="3225" b="1">
                <a:solidFill>
                  <a:srgbClr val="183153"/>
                </a:solidFill>
                <a:latin typeface="Arial"/>
                <a:ea typeface="Arial"/>
                <a:cs typeface="Arial"/>
              </a:defRPr>
            </a:pPr>
            <a:r>
              <a:rPr sz="3225" b="1">
                <a:solidFill>
                  <a:srgbClr val="183153"/>
                </a:solidFill>
                <a:latin typeface="Arial"/>
                <a:ea typeface="Arial"/>
                <a:cs typeface="Arial"/>
              </a:rPr>
              <a:t>sin repetir el mismo evento</a:t>
            </a:r>
          </a:p>
        </p:txBody>
      </p:sp>
      <p:sp>
        <p:nvSpPr>
          <p:cNvPr id="4" name="">
            <a:extLst xmlns:a="http://schemas.openxmlformats.org/drawingml/2006/main">
              <a:ext uri="{FF2B5EF4-FFF2-40B4-BE49-F238E27FC236}">
                <a16:creationId xmlns:a16="http://schemas.microsoft.com/office/drawing/2014/main" id="{A009616B-AAEB-4F9C-B342-879CC6F05E3F}"/>
              </a:ext>
            </a:extLst>
          </p:cNvPr>
          <p:cNvSpPr>
            <a:spLocks xmlns:a="http://schemas.openxmlformats.org/drawingml/2006/main" noGrp="1"/>
          </p:cNvSpPr>
          <p:nvPr/>
        </p:nvSpPr>
        <p:spPr>
          <a:xfrm xmlns:a="http://schemas.openxmlformats.org/drawingml/2006/main">
            <a:off x="685800" y="37623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Reto: los sensores notifican cambios continuamente.</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Decisión en el código: registrar una vez por interrupción.</a:t>
            </a:r>
          </a:p>
          <a:p xmlns:a="http://schemas.openxmlformats.org/drawingml/2006/main">
            <a:pPr>
              <a:defRPr sz="1950" b="0">
                <a:solidFill>
                  <a:srgbClr val="40536B"/>
                </a:solidFill>
                <a:latin typeface="Arial"/>
                <a:ea typeface="Arial"/>
                <a:cs typeface="Arial"/>
              </a:defRPr>
            </a:pPr>
            <a:r>
              <a:rPr sz="1950" b="0">
                <a:solidFill>
                  <a:srgbClr val="40536B"/>
                </a:solidFill>
                <a:latin typeface="Arial"/>
                <a:ea typeface="Arial"/>
                <a:cs typeface="Arial"/>
              </a:rPr>
              <a:t>Comprobación propuesta: levantar, revisar y reanudar.</a:t>
            </a:r>
          </a:p>
        </p:txBody>
      </p:sp>
      <p:sp>
        <p:nvSpPr>
          <p:cNvPr id="5" name="">
            <a:extLst xmlns:a="http://schemas.openxmlformats.org/drawingml/2006/main">
              <a:ext uri="{FF2B5EF4-FFF2-40B4-BE49-F238E27FC236}">
                <a16:creationId xmlns:a16="http://schemas.microsoft.com/office/drawing/2014/main" id="{17F2F533-CC0B-454D-A64C-E81B775B8A68}"/>
              </a:ext>
            </a:extLst>
          </p:cNvPr>
          <p:cNvSpPr>
            <a:spLocks xmlns:a="http://schemas.openxmlformats.org/drawingml/2006/main" noGrp="1"/>
          </p:cNvSpPr>
          <p:nvPr/>
        </p:nvSpPr>
        <p:spPr>
          <a:xfrm xmlns:a="http://schemas.openxmlformats.org/drawingml/2006/main">
            <a:off x="685800" y="57531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A7F"/>
                </a:solidFill>
                <a:latin typeface="Arial"/>
                <a:ea typeface="Arial"/>
                <a:cs typeface="Arial"/>
              </a:defRPr>
            </a:pPr>
            <a:r>
              <a:rPr sz="1350" b="0">
                <a:solidFill>
                  <a:srgbClr val="586A7F"/>
                </a:solidFill>
                <a:latin typeface="Arial"/>
                <a:ea typeface="Arial"/>
                <a:cs typeface="Arial"/>
              </a:rPr>
              <a:t>Decisión verificable en el código. La autoría individual debe confirmarla el equipo.</a:t>
            </a:r>
          </a:p>
        </p:txBody>
      </p:sp>
      <p:sp>
        <p:nvSpPr>
          <p:cNvPr id="6" name="">
            <a:extLst xmlns:a="http://schemas.openxmlformats.org/drawingml/2006/main">
              <a:ext uri="{FF2B5EF4-FFF2-40B4-BE49-F238E27FC236}">
                <a16:creationId xmlns:a16="http://schemas.microsoft.com/office/drawing/2014/main" id="{842453A3-BBA7-4E83-B674-790FCAC3377D}"/>
              </a:ext>
            </a:extLst>
          </p:cNvPr>
          <p:cNvSpPr>
            <a:spLocks xmlns:a="http://schemas.openxmlformats.org/drawingml/2006/main" noGrp="1"/>
          </p:cNvSpPr>
          <p:nvPr/>
        </p:nvSpPr>
        <p:spPr>
          <a:xfrm xmlns:a="http://schemas.openxmlformats.org/drawingml/2006/main">
            <a:off x="1076325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A7F"/>
                </a:solidFill>
                <a:latin typeface="Arial"/>
                <a:ea typeface="Arial"/>
                <a:cs typeface="Arial"/>
              </a:defRPr>
            </a:pPr>
            <a:r>
              <a:rPr sz="1200" b="0">
                <a:solidFill>
                  <a:srgbClr val="586A7F"/>
                </a:solidFill>
                <a:latin typeface="Arial"/>
                <a:ea typeface="Arial"/>
                <a:cs typeface="Arial"/>
              </a:rPr>
              <a:t>6 / 7</a:t>
            </a:r>
          </a:p>
        </p:txBody>
      </p:sp>
    </p:spTree>
    <p:extLst>
      <p:ext uri="{BB962C8B-B14F-4D97-AF65-F5344CB8AC3E}">
        <p14:creationId xmlns:p14="http://schemas.microsoft.com/office/powerpoint/2010/main" val="1039703481"/>
      </p:ext>
    </p:extLst>
  </p:cSld>
</p:sld>
</file>

<file path=ppt/slides/slide7.xml><?xml version="1.0" encoding="utf-8"?>
<p:sld xmlns:p="http://schemas.openxmlformats.org/presentationml/2006/main">
  <p:cSld>
    <p:bg>
      <p:bgPr>
        <a:solidFill xmlns:a="http://schemas.openxmlformats.org/drawingml/2006/main">
          <a:srgbClr val="142C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F2FE47-EAE7-4C09-9DB4-7959B570946C}"/>
              </a:ext>
            </a:extLst>
          </p:cNvPr>
          <p:cNvSpPr>
            <a:spLocks xmlns:a="http://schemas.openxmlformats.org/drawingml/2006/main" noGrp="1"/>
          </p:cNvSpPr>
          <p:nvPr/>
        </p:nvSpPr>
        <p:spPr>
          <a:xfrm xmlns:a="http://schemas.openxmlformats.org/drawingml/2006/main">
            <a:off x="685800" y="3810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0DCCB"/>
                </a:solidFill>
                <a:latin typeface="Arial"/>
                <a:ea typeface="Arial"/>
                <a:cs typeface="Arial"/>
              </a:defRPr>
            </a:pPr>
            <a:r>
              <a:rPr sz="1425" b="1">
                <a:solidFill>
                  <a:srgbClr val="80DCCB"/>
                </a:solidFill>
                <a:latin typeface="Arial"/>
                <a:ea typeface="Arial"/>
                <a:cs typeface="Arial"/>
              </a:rPr>
              <a:t>07  CIERRE Y LLAMADO A LA ACCIÓN</a:t>
            </a:r>
          </a:p>
        </p:txBody>
      </p:sp>
      <p:sp>
        <p:nvSpPr>
          <p:cNvPr id="2" name="">
            <a:extLst xmlns:a="http://schemas.openxmlformats.org/drawingml/2006/main">
              <a:ext uri="{FF2B5EF4-FFF2-40B4-BE49-F238E27FC236}">
                <a16:creationId xmlns:a16="http://schemas.microsoft.com/office/drawing/2014/main" id="{ACD5CA1B-46A2-47CD-B65B-E8BCCE292099}"/>
              </a:ext>
            </a:extLst>
          </p:cNvPr>
          <p:cNvSpPr>
            <a:spLocks xmlns:a="http://schemas.openxmlformats.org/drawingml/2006/main" noGrp="1"/>
          </p:cNvSpPr>
          <p:nvPr/>
        </p:nvSpPr>
        <p:spPr>
          <a:xfrm xmlns:a="http://schemas.openxmlformats.org/drawingml/2006/main">
            <a:off x="685800" y="904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El siguiente paso</a:t>
            </a:r>
          </a:p>
        </p:txBody>
      </p:sp>
      <p:sp>
        <p:nvSpPr>
          <p:cNvPr id="3" name="">
            <a:extLst xmlns:a="http://schemas.openxmlformats.org/drawingml/2006/main">
              <a:ext uri="{FF2B5EF4-FFF2-40B4-BE49-F238E27FC236}">
                <a16:creationId xmlns:a16="http://schemas.microsoft.com/office/drawing/2014/main" id="{3B20BD72-F11E-42DC-8098-5DB7A74557F2}"/>
              </a:ext>
            </a:extLst>
          </p:cNvPr>
          <p:cNvSpPr>
            <a:spLocks xmlns:a="http://schemas.openxmlformats.org/drawingml/2006/main" noGrp="1"/>
          </p:cNvSpPr>
          <p:nvPr/>
        </p:nvSpPr>
        <p:spPr>
          <a:xfrm xmlns:a="http://schemas.openxmlformats.org/drawingml/2006/main">
            <a:off x="685800" y="2047875"/>
            <a:ext cx="10820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Probar una sesión completa</a:t>
            </a:r>
          </a:p>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con estudiantes</a:t>
            </a:r>
          </a:p>
        </p:txBody>
      </p:sp>
      <p:sp>
        <p:nvSpPr>
          <p:cNvPr id="4" name="">
            <a:extLst xmlns:a="http://schemas.openxmlformats.org/drawingml/2006/main">
              <a:ext uri="{FF2B5EF4-FFF2-40B4-BE49-F238E27FC236}">
                <a16:creationId xmlns:a16="http://schemas.microsoft.com/office/drawing/2014/main" id="{FF2CEE99-FAE0-4F8D-A87C-31DAF7B04884}"/>
              </a:ext>
            </a:extLst>
          </p:cNvPr>
          <p:cNvSpPr>
            <a:spLocks xmlns:a="http://schemas.openxmlformats.org/drawingml/2006/main" noGrp="1"/>
          </p:cNvSpPr>
          <p:nvPr/>
        </p:nvSpPr>
        <p:spPr>
          <a:xfrm xmlns:a="http://schemas.openxmlformats.org/drawingml/2006/main">
            <a:off x="685800" y="3762375"/>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AE4EF"/>
                </a:solidFill>
                <a:latin typeface="Arial"/>
                <a:ea typeface="Arial"/>
                <a:cs typeface="Arial"/>
              </a:defRPr>
            </a:pPr>
            <a:r>
              <a:rPr sz="1950" b="0">
                <a:solidFill>
                  <a:srgbClr val="DAE4EF"/>
                </a:solidFill>
                <a:latin typeface="Arial"/>
                <a:ea typeface="Arial"/>
                <a:cs typeface="Arial"/>
              </a:rPr>
              <a:t>Pedir un plan, completar un bloque y revisar el historial.</a:t>
            </a:r>
          </a:p>
          <a:p xmlns:a="http://schemas.openxmlformats.org/drawingml/2006/main">
            <a:r>
              <a:t/>
            </a:r>
          </a:p>
          <a:p xmlns:a="http://schemas.openxmlformats.org/drawingml/2006/main">
            <a:pPr>
              <a:defRPr sz="1950" b="0">
                <a:solidFill>
                  <a:srgbClr val="DAE4EF"/>
                </a:solidFill>
                <a:latin typeface="Arial"/>
                <a:ea typeface="Arial"/>
                <a:cs typeface="Arial"/>
              </a:defRPr>
            </a:pPr>
            <a:r>
              <a:rPr sz="1950" b="0">
                <a:solidFill>
                  <a:srgbClr val="DAE4EF"/>
                </a:solidFill>
                <a:latin typeface="Arial"/>
                <a:ea typeface="Arial"/>
                <a:cs typeface="Arial"/>
              </a:rPr>
              <a:t>Observar qué ayuda, qué confunde y qué debemos mejorar.</a:t>
            </a:r>
          </a:p>
        </p:txBody>
      </p:sp>
      <p:sp>
        <p:nvSpPr>
          <p:cNvPr id="5" name="">
            <a:extLst xmlns:a="http://schemas.openxmlformats.org/drawingml/2006/main">
              <a:ext uri="{FF2B5EF4-FFF2-40B4-BE49-F238E27FC236}">
                <a16:creationId xmlns:a16="http://schemas.microsoft.com/office/drawing/2014/main" id="{C66513BF-B0A2-4BCB-B2F2-905A0CE731A5}"/>
              </a:ext>
            </a:extLst>
          </p:cNvPr>
          <p:cNvSpPr>
            <a:spLocks xmlns:a="http://schemas.openxmlformats.org/drawingml/2006/main" noGrp="1"/>
          </p:cNvSpPr>
          <p:nvPr/>
        </p:nvSpPr>
        <p:spPr>
          <a:xfrm xmlns:a="http://schemas.openxmlformats.org/drawingml/2006/main">
            <a:off x="10763250" y="63341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AE4EF"/>
                </a:solidFill>
                <a:latin typeface="Arial"/>
                <a:ea typeface="Arial"/>
                <a:cs typeface="Arial"/>
              </a:defRPr>
            </a:pPr>
            <a:r>
              <a:rPr sz="1200" b="0">
                <a:solidFill>
                  <a:srgbClr val="DAE4EF"/>
                </a:solidFill>
                <a:latin typeface="Arial"/>
                <a:ea typeface="Arial"/>
                <a:cs typeface="Arial"/>
              </a:rPr>
              <a:t>7 / 7</a:t>
            </a:r>
          </a:p>
        </p:txBody>
      </p:sp>
    </p:spTree>
    <p:extLst>
      <p:ext uri="{BB962C8B-B14F-4D97-AF65-F5344CB8AC3E}">
        <p14:creationId xmlns:p14="http://schemas.microsoft.com/office/powerpoint/2010/main" val="856658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2026-09-28T22:55:15.0980000Z</dcterms:created>
  <dcterms:modified xsi:type="dcterms:W3CDTF">2026-09-28T22:55:15.0980000Z</dcterms:modified>
</coreProperties>
</file>